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0" r:id="rId2"/>
    <p:sldId id="257" r:id="rId3"/>
    <p:sldId id="258" r:id="rId4"/>
    <p:sldId id="259" r:id="rId5"/>
    <p:sldId id="261" r:id="rId6"/>
    <p:sldId id="262" r:id="rId7"/>
    <p:sldId id="263" r:id="rId8"/>
    <p:sldId id="265" r:id="rId9"/>
    <p:sldId id="264" r:id="rId10"/>
    <p:sldId id="266" r:id="rId11"/>
    <p:sldId id="274" r:id="rId12"/>
    <p:sldId id="267" r:id="rId13"/>
    <p:sldId id="273" r:id="rId14"/>
    <p:sldId id="268" r:id="rId15"/>
    <p:sldId id="269" r:id="rId16"/>
    <p:sldId id="270" r:id="rId17"/>
    <p:sldId id="271" r:id="rId18"/>
    <p:sldId id="272" r:id="rId19"/>
    <p:sldId id="275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" id="{59342B52-F34A-488A-82B2-3425172B617B}">
          <p14:sldIdLst>
            <p14:sldId id="260"/>
          </p14:sldIdLst>
        </p14:section>
        <p14:section name="P&amp;L" id="{3D976D9C-C829-4078-BD4B-62352EE5573C}">
          <p14:sldIdLst>
            <p14:sldId id="257"/>
            <p14:sldId id="258"/>
            <p14:sldId id="259"/>
            <p14:sldId id="261"/>
            <p14:sldId id="262"/>
            <p14:sldId id="263"/>
            <p14:sldId id="265"/>
            <p14:sldId id="264"/>
          </p14:sldIdLst>
        </p14:section>
        <p14:section name="Sales analysis" id="{E5A5A617-F545-4166-8250-44EF25681F33}">
          <p14:sldIdLst>
            <p14:sldId id="266"/>
            <p14:sldId id="274"/>
            <p14:sldId id="267"/>
            <p14:sldId id="273"/>
            <p14:sldId id="268"/>
            <p14:sldId id="269"/>
          </p14:sldIdLst>
        </p14:section>
        <p14:section name="Cost price" id="{E23E910B-673E-47F9-BBAC-C7CF3CD77E70}">
          <p14:sldIdLst>
            <p14:sldId id="270"/>
            <p14:sldId id="271"/>
            <p14:sldId id="272"/>
          </p14:sldIdLst>
        </p14:section>
        <p14:section name="Outro" id="{D0B0C34D-EDDA-4004-8AA3-16EC02138ED7}">
          <p14:sldIdLst>
            <p14:sldId id="27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67259"/>
    <a:srgbClr val="CBAF97"/>
    <a:srgbClr val="D5C7B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1B1383-AC1B-F577-37AB-A440D8C6ECF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6767DD8-FBCF-01F5-4988-CEE7E7258D3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6CD597-BEC5-6263-3475-F3CF51CE1D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72F573-15B3-4BB7-A72A-CD9758375177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341AFE-BEB8-EEF2-D4DA-4109113D4F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D070BC-A9F7-FA2F-4A3D-63EB4CC154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ACF38C-6D89-49CC-ADAE-519A7F16BD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01943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4D12CA-6E37-3179-88A0-A4825A38D9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542BDF-5193-AF7B-55D9-6DEB0E6062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6C6016-0965-29B6-270E-DC4B194C1B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72F573-15B3-4BB7-A72A-CD9758375177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476D48-CF05-D56E-795C-02D378C9C4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1266DB-4534-419A-7571-FCB5BE0AC8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ACF38C-6D89-49CC-ADAE-519A7F16BD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38140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7937DD-28ED-1275-F225-E8D6B3A5DD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B6ACD2-4D00-119C-009B-BEBF4723A4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380742-CABC-49BE-5265-68D7DC175F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72F573-15B3-4BB7-A72A-CD9758375177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65C79E-C0F0-8FA2-91A5-16917416AC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C68F11-B7C3-D0E2-6E8F-9D7020D0AA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ACF38C-6D89-49CC-ADAE-519A7F16BD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60400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5198E8-AB7C-FCEB-FF66-BB693494ED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C67592-C944-E9FB-788E-FC069B2705F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FBACD5D-F751-1990-9771-03ABB0BC16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F68CC5D-E92D-33C1-27D9-1893743D9F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72F573-15B3-4BB7-A72A-CD9758375177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35F6A0A-174B-B575-B9C5-89C5FD3833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2B6EE97-DD0D-522A-0636-CCDF5C5876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ACF38C-6D89-49CC-ADAE-519A7F16BD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87350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818232-D337-6A78-4DC3-27E7FEE5D8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036BF6F-3E05-71EB-506E-F5CC78B6A0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CB2A89A-DE7C-E4F6-981B-7AAD275C8F4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71406E1-BE3D-4DE2-7BEE-533E9EE3930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6406764-9E42-BE5F-B052-3CAD49717C0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0D3B81B-3B9C-663D-9D34-0FDE78D613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72F573-15B3-4BB7-A72A-CD9758375177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346958F-86B5-529E-FF67-BCBE0DFF0E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8ABBAF3-3D8E-A3C9-C283-D8BDC4108C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ACF38C-6D89-49CC-ADAE-519A7F16BD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26213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615329-35C6-D243-2BE9-DCC61C96B7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593C0B1-DA3C-6C69-6393-48D719C89B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72F573-15B3-4BB7-A72A-CD9758375177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090F6D1-8103-F4F9-9CDC-3AEE2A8FD1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8D6B9C8-229E-D87B-CE3B-AC10142DC5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ACF38C-6D89-49CC-ADAE-519A7F16BD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91097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FD8B69D-5A21-D88F-D31E-F57BE3F62A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72F573-15B3-4BB7-A72A-CD9758375177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8659C73-9337-708E-E34E-2AD2CAC03F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0A31B6-60BA-4B7F-A821-DFD5C97D6D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ACF38C-6D89-49CC-ADAE-519A7F16BD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71586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535DD5-4997-B303-E083-5C70ED5DAE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995C43-7023-E1CE-C357-88B59ED1D4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76BC1F8-AEBD-430F-D5DD-429C1BEEB98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4816BC0-AEA7-D49A-17D1-30C7FC5869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72F573-15B3-4BB7-A72A-CD9758375177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0151F13-0F38-F9B3-DCE5-B8C6016ABD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E2252D-4079-68D7-8AE7-258A8DA5EC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ACF38C-6D89-49CC-ADAE-519A7F16BD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47095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3B11EC-215B-201A-8707-212DBB13C7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2A5E457-2C92-29F0-D79C-D4DFBD2ADDB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25B8688-4069-4BA2-7528-922CBC5EEB3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DB7BF0F-0B54-FC98-0E70-8673E52ACB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72F573-15B3-4BB7-A72A-CD9758375177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8A163B9-458B-8F61-6629-E9DD47B402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E523B8F-B8DD-4A48-7839-67D706B85C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ACF38C-6D89-49CC-ADAE-519A7F16BD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37246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3C1AB6-3F64-2D5A-1F47-5992E9859D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6B9FE99-8368-084D-2C34-86B3CAF369F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C619A2-29AD-EDB7-26DA-82B0EB5228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72F573-15B3-4BB7-A72A-CD9758375177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9A0A63-D72D-96A0-A9A9-F7405206E1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3D3005-2CED-D922-95CC-2935E6803C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ACF38C-6D89-49CC-ADAE-519A7F16BD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40741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F482FE0-7F34-0902-130A-51773940CE6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1919694-32E3-BA72-7A4E-63E533811FB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CC0EBF-F273-400A-7C8E-FF90BB8B77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72F573-15B3-4BB7-A72A-CD9758375177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8EF44E-E263-64DB-DF63-EE5EC2F17A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F93FAE-5823-5551-1D8D-E71E41B29C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ACF38C-6D89-49CC-ADAE-519A7F16BD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01808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8A64EA8-FCC2-D064-C2CD-D847C2BFA8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4DDBD6-84A4-BD20-783E-04954886B3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2B75BF-A069-1D6C-0BB5-5A4282C833F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A72F573-15B3-4BB7-A72A-CD9758375177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C6B205-1DF5-045E-082A-286DC03AF52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3E324F-BD18-DC5B-1601-4ADACAB2D1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EACF38C-6D89-49CC-ADAE-519A7F16BD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3854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5C7BD">
            <a:alpha val="6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close up of a cup of coffee&#10;&#10;Description automatically generated">
            <a:extLst>
              <a:ext uri="{FF2B5EF4-FFF2-40B4-BE49-F238E27FC236}">
                <a16:creationId xmlns:a16="http://schemas.microsoft.com/office/drawing/2014/main" id="{933F5531-1E45-2AF8-341F-03F7E530E93C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83" y="0"/>
            <a:ext cx="12178234" cy="6858000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53D07B77-5A30-3B55-1152-79CD78F72B73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722589" y="3429000"/>
            <a:ext cx="4702629" cy="1018913"/>
          </a:xfrm>
          <a:prstGeom prst="rect">
            <a:avLst/>
          </a:prstGeom>
          <a:solidFill>
            <a:srgbClr val="967259"/>
          </a:solidFill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lt-LT" sz="2800" b="1" dirty="0">
                <a:solidFill>
                  <a:schemeClr val="bg1"/>
                </a:solidFill>
                <a:latin typeface="Garamond" panose="02020404030301010803" pitchFamily="18" charset="0"/>
              </a:rPr>
              <a:t>2026 01-08 + 09-12 FC</a:t>
            </a:r>
          </a:p>
          <a:p>
            <a:pPr algn="ctr"/>
            <a:r>
              <a:rPr lang="lt-LT" sz="2800" b="1" dirty="0">
                <a:solidFill>
                  <a:schemeClr val="bg1"/>
                </a:solidFill>
                <a:latin typeface="Garamond" panose="02020404030301010803" pitchFamily="18" charset="0"/>
              </a:rPr>
              <a:t>RESULTS</a:t>
            </a:r>
          </a:p>
        </p:txBody>
      </p:sp>
    </p:spTree>
    <p:extLst>
      <p:ext uri="{BB962C8B-B14F-4D97-AF65-F5344CB8AC3E}">
        <p14:creationId xmlns:p14="http://schemas.microsoft.com/office/powerpoint/2010/main" val="22561142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5C7BD">
            <a:alpha val="3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37FFBB0C-BBC6-373E-A92F-63374FF8B43F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 rotWithShape="1">
          <a:blip r:embed="rId2"/>
          <a:srcRect r="35971"/>
          <a:stretch/>
        </p:blipFill>
        <p:spPr>
          <a:xfrm>
            <a:off x="0" y="1161131"/>
            <a:ext cx="6361471" cy="5696867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A20AFF56-E594-BD23-E9B5-723A919D137C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 flipH="1">
            <a:off x="6862916" y="1248696"/>
            <a:ext cx="4670322" cy="3016210"/>
          </a:xfrm>
          <a:prstGeom prst="rect">
            <a:avLst/>
          </a:prstGeom>
          <a:solidFill>
            <a:srgbClr val="EBE8DB"/>
          </a:solidFill>
          <a:ln>
            <a:solidFill>
              <a:srgbClr val="8E7F3F"/>
            </a:solidFill>
          </a:ln>
          <a:effectLst>
            <a:glow rad="63500">
              <a:schemeClr val="accent2">
                <a:satMod val="175000"/>
                <a:alpha val="40000"/>
              </a:schemeClr>
            </a:glow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lt-LT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Comments</a:t>
            </a:r>
          </a:p>
          <a:p>
            <a:pPr>
              <a:spcAft>
                <a:spcPts val="1200"/>
              </a:spcAft>
            </a:pPr>
            <a:endParaRPr lang="en-US" sz="1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457200" indent="-4572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lt-LT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Net sales showed strong results, </a:t>
            </a:r>
            <a:r>
              <a:rPr lang="en-US" sz="1600" dirty="0"/>
              <a:t>exceeding</a:t>
            </a:r>
            <a:r>
              <a:rPr lang="lt-LT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budget by 23% and showed 6% growth compared to the same period last year.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457200" indent="-4572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lt-LT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Gross profit margin is 0.5% higher than expected 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although </a:t>
            </a:r>
            <a:r>
              <a:rPr lang="lt-LT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slightly lower than 2025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level</a:t>
            </a:r>
            <a:r>
              <a:rPr lang="lt-LT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457200" indent="-4572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lt-LT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Net profit increased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by</a:t>
            </a:r>
            <a:r>
              <a:rPr lang="lt-LT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8% YoY (+57 268 €) 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with</a:t>
            </a:r>
            <a:r>
              <a:rPr lang="lt-LT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profit margin is 2.8% 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above budget</a:t>
            </a:r>
            <a:r>
              <a:rPr lang="lt-LT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  <a:br>
              <a:rPr lang="lt-LT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lt-LT" sz="1400" dirty="0">
              <a:solidFill>
                <a:schemeClr val="bg2">
                  <a:lumMod val="75000"/>
                  <a:lumOff val="2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4D5A1C82-7A01-5AC9-7A76-553C9D6F3498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3972232" y="357063"/>
            <a:ext cx="8219768" cy="606498"/>
          </a:xfrm>
          <a:prstGeom prst="rect">
            <a:avLst/>
          </a:prstGeom>
          <a:solidFill>
            <a:srgbClr val="967259"/>
          </a:solidFill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lt-LT" sz="2800" b="1" dirty="0">
                <a:solidFill>
                  <a:schemeClr val="bg1"/>
                </a:solidFill>
                <a:latin typeface="Garamond" panose="02020404030301010803" pitchFamily="18" charset="0"/>
              </a:rPr>
              <a:t>P&amp;L 2026 01-08</a:t>
            </a:r>
            <a:endParaRPr lang="en-US" sz="2800" b="1" dirty="0">
              <a:solidFill>
                <a:schemeClr val="bg1"/>
              </a:solidFill>
              <a:latin typeface="Garamond" panose="02020404030301010803" pitchFamily="18" charset="0"/>
            </a:endParaRPr>
          </a:p>
        </p:txBody>
      </p:sp>
      <p:pic>
        <p:nvPicPr>
          <p:cNvPr id="5" name="Picture 4" descr="A close up of a sign&#10;&#10;Description automatically generated">
            <a:extLst>
              <a:ext uri="{FF2B5EF4-FFF2-40B4-BE49-F238E27FC236}">
                <a16:creationId xmlns:a16="http://schemas.microsoft.com/office/drawing/2014/main" id="{40AE571C-FF64-DE1A-32CC-9982FC620732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94838" y="5928851"/>
            <a:ext cx="3097161" cy="9291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65805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5C7BD">
            <a:alpha val="3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2E407905-E154-48EE-390B-E2AEEAF01C3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/>
          </p:nvPr>
        </p:nvSpPr>
        <p:spPr>
          <a:xfrm>
            <a:off x="3972232" y="357063"/>
            <a:ext cx="8219768" cy="606498"/>
          </a:xfrm>
          <a:solidFill>
            <a:srgbClr val="967259"/>
          </a:solidFill>
        </p:spPr>
        <p:txBody>
          <a:bodyPr>
            <a:noAutofit/>
          </a:bodyPr>
          <a:lstStyle/>
          <a:p>
            <a:pPr algn="ctr"/>
            <a:r>
              <a:rPr lang="lt-LT" sz="2800" b="1" dirty="0">
                <a:solidFill>
                  <a:schemeClr val="bg1"/>
                </a:solidFill>
                <a:latin typeface="Garamond" panose="02020404030301010803" pitchFamily="18" charset="0"/>
              </a:rPr>
              <a:t>P&amp;L 2026 01-08 + 09-12 FC</a:t>
            </a:r>
            <a:endParaRPr lang="en-US" sz="2800" b="1" dirty="0">
              <a:solidFill>
                <a:schemeClr val="bg1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20AFF56-E594-BD23-E9B5-723A919D137C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 flipH="1">
            <a:off x="6862916" y="1248696"/>
            <a:ext cx="4670322" cy="3600986"/>
          </a:xfrm>
          <a:prstGeom prst="rect">
            <a:avLst/>
          </a:prstGeom>
          <a:solidFill>
            <a:srgbClr val="EBE8DB"/>
          </a:solidFill>
          <a:ln>
            <a:solidFill>
              <a:srgbClr val="8E7F3F"/>
            </a:solidFill>
          </a:ln>
          <a:effectLst>
            <a:glow rad="63500">
              <a:schemeClr val="accent2">
                <a:satMod val="175000"/>
                <a:alpha val="40000"/>
              </a:schemeClr>
            </a:glow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lt-LT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Comments</a:t>
            </a:r>
          </a:p>
          <a:p>
            <a:pPr>
              <a:spcAft>
                <a:spcPts val="1200"/>
              </a:spcAft>
            </a:pPr>
            <a:endParaRPr lang="en-US" sz="1600" dirty="0"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457200" indent="-4572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Full</a:t>
            </a:r>
            <a:r>
              <a:rPr lang="lt-LT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year net sales are forecast at </a:t>
            </a:r>
            <a:r>
              <a:rPr lang="lt-LT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€ 1,7 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</a:t>
            </a:r>
            <a:r>
              <a:rPr lang="lt-LT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ilion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lt-LT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25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% above budget and </a:t>
            </a:r>
            <a:r>
              <a:rPr lang="lt-LT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9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% higher than</a:t>
            </a:r>
            <a:r>
              <a:rPr lang="lt-LT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2025.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endParaRPr lang="lt-LT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457200" indent="-4572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lt-LT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Gross profit is expected to reach € 0,49 milion (+7% YoY) with 28,4% margin, which is exactly as budget.</a:t>
            </a:r>
          </a:p>
          <a:p>
            <a:pPr marL="457200" indent="-4572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Net profit is expected </a:t>
            </a:r>
            <a:r>
              <a:rPr lang="lt-LT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 be 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€ </a:t>
            </a:r>
            <a:r>
              <a:rPr lang="lt-LT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231 540,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lt-LT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49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% </a:t>
            </a:r>
            <a:r>
              <a:rPr lang="lt-LT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over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budget </a:t>
            </a:r>
            <a:r>
              <a:rPr lang="lt-LT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and 5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% higher YoY, with net profit margin</a:t>
            </a:r>
            <a:r>
              <a:rPr lang="lt-LT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2,1% above budget.</a:t>
            </a:r>
          </a:p>
          <a:p>
            <a:pPr marL="457200" indent="-457200">
              <a:spcAft>
                <a:spcPts val="1200"/>
              </a:spcAft>
              <a:buFont typeface="Arial" panose="020B0604020202020204" pitchFamily="34" charset="0"/>
              <a:buChar char="•"/>
            </a:pPr>
            <a:br>
              <a:rPr lang="en-US" sz="1200" dirty="0">
                <a:solidFill>
                  <a:schemeClr val="bg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lt-LT" sz="1200" dirty="0">
              <a:solidFill>
                <a:schemeClr val="bg2">
                  <a:lumMod val="75000"/>
                  <a:lumOff val="2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7" name="Picture 6" descr="A close up of a sign&#10;&#10;Description automatically generated">
            <a:extLst>
              <a:ext uri="{FF2B5EF4-FFF2-40B4-BE49-F238E27FC236}">
                <a16:creationId xmlns:a16="http://schemas.microsoft.com/office/drawing/2014/main" id="{E81CE5FD-E5F3-DD8A-124D-7FBB6FB48001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94838" y="5928851"/>
            <a:ext cx="3097161" cy="92914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AE4A9DA5-A080-90AC-55C7-3720C97B9146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160206"/>
            <a:ext cx="6386763" cy="56977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05581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5C7BD">
            <a:alpha val="3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2E407905-E154-48EE-390B-E2AEEAF01C3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/>
          </p:nvPr>
        </p:nvSpPr>
        <p:spPr>
          <a:xfrm>
            <a:off x="3972232" y="357063"/>
            <a:ext cx="8219768" cy="606498"/>
          </a:xfrm>
          <a:solidFill>
            <a:srgbClr val="967259"/>
          </a:solidFill>
        </p:spPr>
        <p:txBody>
          <a:bodyPr>
            <a:noAutofit/>
          </a:bodyPr>
          <a:lstStyle/>
          <a:p>
            <a:pPr algn="ctr"/>
            <a:r>
              <a:rPr lang="lt-LT" sz="2800" b="1" dirty="0">
                <a:solidFill>
                  <a:schemeClr val="bg1"/>
                </a:solidFill>
                <a:latin typeface="Garamond" panose="02020404030301010803" pitchFamily="18" charset="0"/>
              </a:rPr>
              <a:t>NET SALES 2026 01-08 + 09-12 FC</a:t>
            </a:r>
            <a:endParaRPr lang="en-US" sz="2800" b="1" dirty="0">
              <a:solidFill>
                <a:schemeClr val="bg1"/>
              </a:solidFill>
              <a:latin typeface="Garamond" panose="02020404030301010803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5238CA9-865A-9E03-9944-4FE2880157AE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968" y="1117946"/>
            <a:ext cx="10078064" cy="5740054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A20AFF56-E594-BD23-E9B5-723A919D137C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 flipH="1">
            <a:off x="1278194" y="1268361"/>
            <a:ext cx="4277032" cy="2400657"/>
          </a:xfrm>
          <a:prstGeom prst="rect">
            <a:avLst/>
          </a:prstGeom>
          <a:solidFill>
            <a:srgbClr val="EBE8DB"/>
          </a:solidFill>
          <a:ln>
            <a:solidFill>
              <a:srgbClr val="8E7F3F"/>
            </a:solidFill>
          </a:ln>
          <a:effectLst>
            <a:glow rad="63500">
              <a:schemeClr val="accent2">
                <a:satMod val="175000"/>
                <a:alpha val="40000"/>
              </a:schemeClr>
            </a:glow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lt-LT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Comments</a:t>
            </a:r>
          </a:p>
          <a:p>
            <a:pPr>
              <a:spcAft>
                <a:spcPts val="1200"/>
              </a:spcAft>
            </a:pPr>
            <a:endParaRPr lang="en-US" sz="1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457200" indent="-4572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Following a slower start to the year, net sales have gained momentum, with only January and May falling below budget</a:t>
            </a:r>
            <a:r>
              <a:rPr lang="lt-LT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457200" indent="-4572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 strong end of the year is expected, with Q4 sales forecast to exceed budget by 42%.</a:t>
            </a:r>
            <a:br>
              <a:rPr lang="lt-LT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lt-LT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5" name="Picture 4" descr="A close up of a sign&#10;&#10;Description automatically generated">
            <a:extLst>
              <a:ext uri="{FF2B5EF4-FFF2-40B4-BE49-F238E27FC236}">
                <a16:creationId xmlns:a16="http://schemas.microsoft.com/office/drawing/2014/main" id="{858FFA76-4C4F-D0D6-F5F5-06D7A58D5FC3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94838" y="5928851"/>
            <a:ext cx="3097161" cy="9291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80483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5C7BD">
            <a:alpha val="3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80EF407C-A44A-F8C1-EF7D-ECAA0847A3D1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8280" y="1110056"/>
            <a:ext cx="10055439" cy="5747944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2E407905-E154-48EE-390B-E2AEEAF01C3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/>
          </p:nvPr>
        </p:nvSpPr>
        <p:spPr>
          <a:xfrm>
            <a:off x="3972232" y="357063"/>
            <a:ext cx="8219768" cy="606498"/>
          </a:xfrm>
          <a:solidFill>
            <a:srgbClr val="967259"/>
          </a:solidFill>
        </p:spPr>
        <p:txBody>
          <a:bodyPr>
            <a:noAutofit/>
          </a:bodyPr>
          <a:lstStyle/>
          <a:p>
            <a:pPr algn="ctr"/>
            <a:r>
              <a:rPr lang="lt-LT" sz="2800" b="1" dirty="0">
                <a:solidFill>
                  <a:schemeClr val="bg1"/>
                </a:solidFill>
                <a:latin typeface="Garamond" panose="02020404030301010803" pitchFamily="18" charset="0"/>
              </a:rPr>
              <a:t>GROSS PROFIT 2026 01-08 + 09-12 FC</a:t>
            </a:r>
            <a:endParaRPr lang="en-US" sz="2800" b="1" dirty="0">
              <a:solidFill>
                <a:schemeClr val="bg1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20AFF56-E594-BD23-E9B5-723A919D137C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 flipH="1">
            <a:off x="1160205" y="1268361"/>
            <a:ext cx="3431459" cy="1938992"/>
          </a:xfrm>
          <a:prstGeom prst="rect">
            <a:avLst/>
          </a:prstGeom>
          <a:solidFill>
            <a:srgbClr val="EBE8DB"/>
          </a:solidFill>
          <a:ln>
            <a:solidFill>
              <a:srgbClr val="8E7F3F"/>
            </a:solidFill>
          </a:ln>
          <a:effectLst>
            <a:glow rad="63500">
              <a:schemeClr val="accent2">
                <a:satMod val="175000"/>
                <a:alpha val="40000"/>
              </a:schemeClr>
            </a:glow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lt-LT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Comments</a:t>
            </a:r>
          </a:p>
          <a:p>
            <a:pPr>
              <a:spcAft>
                <a:spcPts val="1200"/>
              </a:spcAft>
            </a:pPr>
            <a:endParaRPr lang="en-US" sz="1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457200" indent="-4572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Gross profit is higher than expected, driven by higher sales volumes, while the gross margin remains in line with plan.</a:t>
            </a:r>
            <a:br>
              <a:rPr lang="lt-LT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lt-LT" sz="1200" dirty="0">
              <a:solidFill>
                <a:schemeClr val="bg2">
                  <a:lumMod val="75000"/>
                  <a:lumOff val="2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5" name="Picture 4" descr="A close up of a sign&#10;&#10;Description automatically generated">
            <a:extLst>
              <a:ext uri="{FF2B5EF4-FFF2-40B4-BE49-F238E27FC236}">
                <a16:creationId xmlns:a16="http://schemas.microsoft.com/office/drawing/2014/main" id="{858FFA76-4C4F-D0D6-F5F5-06D7A58D5FC3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94838" y="5928851"/>
            <a:ext cx="3097161" cy="9291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469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5C7BD">
            <a:alpha val="3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047F1BF-F232-2C63-03A5-3152F05BA10D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8951" y="1086030"/>
            <a:ext cx="10134097" cy="5771968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2E407905-E154-48EE-390B-E2AEEAF01C3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/>
          </p:nvPr>
        </p:nvSpPr>
        <p:spPr>
          <a:xfrm>
            <a:off x="3972232" y="357063"/>
            <a:ext cx="8219768" cy="606498"/>
          </a:xfrm>
          <a:solidFill>
            <a:srgbClr val="967259"/>
          </a:solidFill>
        </p:spPr>
        <p:txBody>
          <a:bodyPr>
            <a:noAutofit/>
          </a:bodyPr>
          <a:lstStyle/>
          <a:p>
            <a:pPr algn="ctr"/>
            <a:r>
              <a:rPr lang="lt-LT" sz="2800" b="1" dirty="0">
                <a:solidFill>
                  <a:schemeClr val="bg1"/>
                </a:solidFill>
                <a:latin typeface="Garamond" panose="02020404030301010803" pitchFamily="18" charset="0"/>
              </a:rPr>
              <a:t>NET PROFIT 2026 01-08 + 09-12 FC</a:t>
            </a:r>
            <a:endParaRPr lang="en-US" sz="2800" b="1" dirty="0">
              <a:solidFill>
                <a:schemeClr val="bg1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20AFF56-E594-BD23-E9B5-723A919D137C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 flipH="1">
            <a:off x="1101212" y="1268361"/>
            <a:ext cx="3392129" cy="1938992"/>
          </a:xfrm>
          <a:prstGeom prst="rect">
            <a:avLst/>
          </a:prstGeom>
          <a:solidFill>
            <a:srgbClr val="EBE8DB"/>
          </a:solidFill>
          <a:ln>
            <a:solidFill>
              <a:srgbClr val="8E7F3F"/>
            </a:solidFill>
          </a:ln>
          <a:effectLst>
            <a:glow rad="63500">
              <a:schemeClr val="accent2">
                <a:satMod val="175000"/>
                <a:alpha val="40000"/>
              </a:schemeClr>
            </a:glow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lt-LT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Comments</a:t>
            </a:r>
          </a:p>
          <a:p>
            <a:pPr>
              <a:spcAft>
                <a:spcPts val="1200"/>
              </a:spcAft>
            </a:pPr>
            <a:endParaRPr lang="en-US" sz="1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457200" indent="-4572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1600" dirty="0"/>
              <a:t>Q4 net profit is forecast to exceed budget by 77%, but is expected to be 11% below Q4 2025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  <a:b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lt-LT" sz="1200" dirty="0">
              <a:solidFill>
                <a:schemeClr val="bg2">
                  <a:lumMod val="75000"/>
                  <a:lumOff val="2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5" name="Picture 4" descr="A close up of a sign&#10;&#10;Description automatically generated">
            <a:extLst>
              <a:ext uri="{FF2B5EF4-FFF2-40B4-BE49-F238E27FC236}">
                <a16:creationId xmlns:a16="http://schemas.microsoft.com/office/drawing/2014/main" id="{858FFA76-4C4F-D0D6-F5F5-06D7A58D5FC3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94838" y="5928851"/>
            <a:ext cx="3097161" cy="9291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47345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5C7BD">
            <a:alpha val="3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ED3AFDD-B31A-46E6-6B25-2EE7D8118EDF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0354" y="1097025"/>
            <a:ext cx="10071292" cy="5760973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2E407905-E154-48EE-390B-E2AEEAF01C3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/>
          </p:nvPr>
        </p:nvSpPr>
        <p:spPr>
          <a:xfrm>
            <a:off x="3972232" y="357063"/>
            <a:ext cx="8219768" cy="606498"/>
          </a:xfrm>
          <a:solidFill>
            <a:srgbClr val="967259"/>
          </a:solidFill>
        </p:spPr>
        <p:txBody>
          <a:bodyPr>
            <a:noAutofit/>
          </a:bodyPr>
          <a:lstStyle/>
          <a:p>
            <a:pPr algn="ctr"/>
            <a:r>
              <a:rPr lang="lt-LT" sz="2800" b="1" dirty="0">
                <a:solidFill>
                  <a:schemeClr val="bg1"/>
                </a:solidFill>
                <a:latin typeface="Garamond" panose="02020404030301010803" pitchFamily="18" charset="0"/>
              </a:rPr>
              <a:t>EBITDA 2026 01-08 + 09-12 FC</a:t>
            </a:r>
            <a:endParaRPr lang="en-US" sz="2800" b="1" dirty="0">
              <a:solidFill>
                <a:schemeClr val="bg1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20AFF56-E594-BD23-E9B5-723A919D137C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 flipH="1">
            <a:off x="1199534" y="1268361"/>
            <a:ext cx="2703870" cy="2739211"/>
          </a:xfrm>
          <a:prstGeom prst="rect">
            <a:avLst/>
          </a:prstGeom>
          <a:solidFill>
            <a:srgbClr val="EBE8DB"/>
          </a:solidFill>
          <a:ln>
            <a:solidFill>
              <a:srgbClr val="8E7F3F"/>
            </a:solidFill>
          </a:ln>
          <a:effectLst>
            <a:glow rad="63500">
              <a:schemeClr val="accent2">
                <a:satMod val="175000"/>
                <a:alpha val="40000"/>
              </a:schemeClr>
            </a:glow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lt-LT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Comments</a:t>
            </a:r>
          </a:p>
          <a:p>
            <a:pPr>
              <a:spcAft>
                <a:spcPts val="1200"/>
              </a:spcAft>
            </a:pPr>
            <a:endParaRPr lang="en-US" sz="1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457200" indent="-4572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EBITDA is expected to reach € 283 734, 47% above budget and representing a 5% YoY increase, with the EBITDA margin 2,4% above budget.</a:t>
            </a:r>
            <a:br>
              <a:rPr lang="en-US" sz="1200" dirty="0">
                <a:solidFill>
                  <a:schemeClr val="bg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lt-LT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5" name="Picture 4" descr="A close up of a sign&#10;&#10;Description automatically generated">
            <a:extLst>
              <a:ext uri="{FF2B5EF4-FFF2-40B4-BE49-F238E27FC236}">
                <a16:creationId xmlns:a16="http://schemas.microsoft.com/office/drawing/2014/main" id="{858FFA76-4C4F-D0D6-F5F5-06D7A58D5FC3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94838" y="5928851"/>
            <a:ext cx="3097161" cy="9291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57810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5C7BD">
            <a:alpha val="3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2E407905-E154-48EE-390B-E2AEEAF01C3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/>
          </p:nvPr>
        </p:nvSpPr>
        <p:spPr>
          <a:xfrm>
            <a:off x="3972232" y="357063"/>
            <a:ext cx="8219768" cy="606498"/>
          </a:xfrm>
          <a:solidFill>
            <a:srgbClr val="967259"/>
          </a:solidFill>
        </p:spPr>
        <p:txBody>
          <a:bodyPr>
            <a:noAutofit/>
          </a:bodyPr>
          <a:lstStyle/>
          <a:p>
            <a:pPr algn="ctr"/>
            <a:r>
              <a:rPr lang="lt-LT" sz="2800" b="1" dirty="0">
                <a:solidFill>
                  <a:schemeClr val="bg1"/>
                </a:solidFill>
                <a:latin typeface="Garamond" panose="02020404030301010803" pitchFamily="18" charset="0"/>
              </a:rPr>
              <a:t>OPERATING EXPENSES 2026 01-08</a:t>
            </a:r>
            <a:endParaRPr lang="en-US" sz="2800" b="1" dirty="0">
              <a:solidFill>
                <a:schemeClr val="bg1"/>
              </a:solidFill>
              <a:latin typeface="Garamond" panose="02020404030301010803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B361C39-612E-0B7F-FD83-637E286491D5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9683" y="1128247"/>
            <a:ext cx="9992634" cy="5729753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A20AFF56-E594-BD23-E9B5-723A919D137C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 flipH="1">
            <a:off x="6646605" y="1278194"/>
            <a:ext cx="4237703" cy="2646878"/>
          </a:xfrm>
          <a:prstGeom prst="rect">
            <a:avLst/>
          </a:prstGeom>
          <a:solidFill>
            <a:srgbClr val="EBE8DB"/>
          </a:solidFill>
          <a:ln>
            <a:solidFill>
              <a:srgbClr val="8E7F3F"/>
            </a:solidFill>
          </a:ln>
          <a:effectLst>
            <a:glow rad="63500">
              <a:schemeClr val="accent2">
                <a:satMod val="175000"/>
                <a:alpha val="40000"/>
              </a:schemeClr>
            </a:glow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lt-LT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Comments</a:t>
            </a:r>
          </a:p>
          <a:p>
            <a:pPr>
              <a:spcAft>
                <a:spcPts val="1200"/>
              </a:spcAft>
            </a:pPr>
            <a:endParaRPr lang="en-US" sz="1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457200" indent="-4572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lt-LT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Marketing expenses are slightly over budget</a:t>
            </a:r>
            <a:r>
              <a:rPr kumimoji="0" lang="en-US" sz="160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, mainly due to higher</a:t>
            </a:r>
            <a:r>
              <a:rPr kumimoji="0" lang="lt-LT" sz="160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160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than</a:t>
            </a:r>
            <a:r>
              <a:rPr kumimoji="0" lang="lt-LT" sz="160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160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planned campaign and promotional costs</a:t>
            </a:r>
            <a:r>
              <a:rPr kumimoji="0" lang="lt-LT" sz="160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.</a:t>
            </a:r>
            <a:endParaRPr kumimoji="0" lang="lt-LT" sz="160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457200" indent="-4572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lt-LT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Increased trasnportation expenses 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were driven by an unexpected increase in fuel prices.</a:t>
            </a:r>
            <a:br>
              <a:rPr lang="lt-LT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lt-LT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5" name="Picture 4" descr="A close up of a sign&#10;&#10;Description automatically generated">
            <a:extLst>
              <a:ext uri="{FF2B5EF4-FFF2-40B4-BE49-F238E27FC236}">
                <a16:creationId xmlns:a16="http://schemas.microsoft.com/office/drawing/2014/main" id="{858FFA76-4C4F-D0D6-F5F5-06D7A58D5FC3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94838" y="5928851"/>
            <a:ext cx="3097161" cy="9291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767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5C7BD">
            <a:alpha val="3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2E407905-E154-48EE-390B-E2AEEAF01C3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/>
          </p:nvPr>
        </p:nvSpPr>
        <p:spPr>
          <a:xfrm>
            <a:off x="2497395" y="357063"/>
            <a:ext cx="9694606" cy="606498"/>
          </a:xfrm>
          <a:solidFill>
            <a:srgbClr val="967259"/>
          </a:solidFill>
        </p:spPr>
        <p:txBody>
          <a:bodyPr>
            <a:noAutofit/>
          </a:bodyPr>
          <a:lstStyle/>
          <a:p>
            <a:pPr algn="ctr"/>
            <a:r>
              <a:rPr lang="lt-LT" sz="2800" b="1" dirty="0">
                <a:solidFill>
                  <a:schemeClr val="bg1"/>
                </a:solidFill>
                <a:latin typeface="Garamond" panose="02020404030301010803" pitchFamily="18" charset="0"/>
              </a:rPr>
              <a:t>OTHER INCOME &amp; FINANCIAL ACTIVITIES 2026 01-08</a:t>
            </a:r>
            <a:endParaRPr lang="en-US" sz="2800" b="1" dirty="0">
              <a:solidFill>
                <a:schemeClr val="bg1"/>
              </a:solidFill>
              <a:latin typeface="Garamond" panose="02020404030301010803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E97901A-84F3-52FA-3F6E-E82794DD5BA3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0521" y="1085778"/>
            <a:ext cx="10090957" cy="5772222"/>
          </a:xfrm>
          <a:prstGeom prst="rect">
            <a:avLst/>
          </a:prstGeom>
        </p:spPr>
      </p:pic>
      <p:pic>
        <p:nvPicPr>
          <p:cNvPr id="5" name="Picture 4" descr="A close up of a sign&#10;&#10;Description automatically generated">
            <a:extLst>
              <a:ext uri="{FF2B5EF4-FFF2-40B4-BE49-F238E27FC236}">
                <a16:creationId xmlns:a16="http://schemas.microsoft.com/office/drawing/2014/main" id="{858FFA76-4C4F-D0D6-F5F5-06D7A58D5FC3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94838" y="5928851"/>
            <a:ext cx="3097161" cy="9291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973432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5C7BD">
            <a:alpha val="3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2E407905-E154-48EE-390B-E2AEEAF01C3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/>
          </p:nvPr>
        </p:nvSpPr>
        <p:spPr>
          <a:xfrm>
            <a:off x="4375355" y="357063"/>
            <a:ext cx="7816646" cy="606498"/>
          </a:xfrm>
          <a:solidFill>
            <a:srgbClr val="967259"/>
          </a:solidFill>
        </p:spPr>
        <p:txBody>
          <a:bodyPr>
            <a:noAutofit/>
          </a:bodyPr>
          <a:lstStyle/>
          <a:p>
            <a:pPr algn="ctr"/>
            <a:r>
              <a:rPr lang="lt-LT" sz="2800" b="1" dirty="0">
                <a:solidFill>
                  <a:schemeClr val="bg1"/>
                </a:solidFill>
                <a:latin typeface="Garamond" panose="02020404030301010803" pitchFamily="18" charset="0"/>
              </a:rPr>
              <a:t>NET SALES OVERVIEW 2026 01-08</a:t>
            </a:r>
            <a:endParaRPr lang="en-US" sz="2800" b="1" dirty="0">
              <a:solidFill>
                <a:schemeClr val="bg1"/>
              </a:solidFill>
              <a:latin typeface="Garamond" panose="02020404030301010803" pitchFamily="18" charset="0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C13A7530-AFA3-DC90-7B69-AF95B39E8B06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785" y="1120877"/>
            <a:ext cx="11900429" cy="5737121"/>
          </a:xfrm>
          <a:prstGeom prst="rect">
            <a:avLst/>
          </a:prstGeom>
        </p:spPr>
      </p:pic>
      <p:pic>
        <p:nvPicPr>
          <p:cNvPr id="5" name="Picture 4" descr="A close up of a sign&#10;&#10;Description automatically generated">
            <a:extLst>
              <a:ext uri="{FF2B5EF4-FFF2-40B4-BE49-F238E27FC236}">
                <a16:creationId xmlns:a16="http://schemas.microsoft.com/office/drawing/2014/main" id="{858FFA76-4C4F-D0D6-F5F5-06D7A58D5FC3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94838" y="5928851"/>
            <a:ext cx="3097161" cy="9291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020515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5C7BD">
            <a:alpha val="3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939EA32-F251-4886-BB7B-2DCE5C2389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3197" y="1108756"/>
            <a:ext cx="10045606" cy="5749242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2E407905-E154-48EE-390B-E2AEEAF01C3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/>
          </p:nvPr>
        </p:nvSpPr>
        <p:spPr>
          <a:xfrm>
            <a:off x="4375355" y="357063"/>
            <a:ext cx="7816646" cy="606498"/>
          </a:xfrm>
          <a:solidFill>
            <a:srgbClr val="967259"/>
          </a:solidFill>
        </p:spPr>
        <p:txBody>
          <a:bodyPr>
            <a:noAutofit/>
          </a:bodyPr>
          <a:lstStyle/>
          <a:p>
            <a:pPr algn="ctr"/>
            <a:r>
              <a:rPr lang="lt-LT" sz="2800" b="1" dirty="0">
                <a:solidFill>
                  <a:schemeClr val="bg1"/>
                </a:solidFill>
                <a:latin typeface="Garamond" panose="02020404030301010803" pitchFamily="18" charset="0"/>
              </a:rPr>
              <a:t>NET SALES 2026 01-08</a:t>
            </a:r>
            <a:endParaRPr lang="en-US" sz="2800" b="1" dirty="0">
              <a:solidFill>
                <a:schemeClr val="bg1"/>
              </a:solidFill>
              <a:latin typeface="Garamond" panose="02020404030301010803" pitchFamily="18" charset="0"/>
            </a:endParaRPr>
          </a:p>
        </p:txBody>
      </p:sp>
      <p:pic>
        <p:nvPicPr>
          <p:cNvPr id="5" name="Picture 4" descr="A close up of a sign&#10;&#10;Description automatically generated">
            <a:extLst>
              <a:ext uri="{FF2B5EF4-FFF2-40B4-BE49-F238E27FC236}">
                <a16:creationId xmlns:a16="http://schemas.microsoft.com/office/drawing/2014/main" id="{858FFA76-4C4F-D0D6-F5F5-06D7A58D5FC3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94838" y="5928851"/>
            <a:ext cx="3097161" cy="9291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716931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5C7BD">
            <a:alpha val="3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2E407905-E154-48EE-390B-E2AEEAF01C3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/>
          </p:nvPr>
        </p:nvSpPr>
        <p:spPr>
          <a:xfrm>
            <a:off x="4375355" y="357063"/>
            <a:ext cx="7816646" cy="606498"/>
          </a:xfrm>
          <a:solidFill>
            <a:srgbClr val="967259"/>
          </a:solidFill>
        </p:spPr>
        <p:txBody>
          <a:bodyPr>
            <a:noAutofit/>
          </a:bodyPr>
          <a:lstStyle/>
          <a:p>
            <a:pPr algn="ctr"/>
            <a:r>
              <a:rPr lang="lt-LT" sz="2800" b="1" dirty="0">
                <a:solidFill>
                  <a:schemeClr val="bg1"/>
                </a:solidFill>
                <a:latin typeface="Garamond" panose="02020404030301010803" pitchFamily="18" charset="0"/>
              </a:rPr>
              <a:t>NET SALES BY DATE</a:t>
            </a:r>
            <a:endParaRPr lang="en-US" sz="2800" b="1" dirty="0">
              <a:solidFill>
                <a:schemeClr val="bg1"/>
              </a:solidFill>
              <a:latin typeface="Garamond" panose="02020404030301010803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8B93259-9FEB-8371-151D-9C494907B01E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3400" y="1130711"/>
            <a:ext cx="11470375" cy="5727288"/>
          </a:xfrm>
          <a:prstGeom prst="rect">
            <a:avLst/>
          </a:prstGeom>
        </p:spPr>
      </p:pic>
      <p:pic>
        <p:nvPicPr>
          <p:cNvPr id="5" name="Picture 4" descr="A close up of a sign&#10;&#10;Description automatically generated">
            <a:extLst>
              <a:ext uri="{FF2B5EF4-FFF2-40B4-BE49-F238E27FC236}">
                <a16:creationId xmlns:a16="http://schemas.microsoft.com/office/drawing/2014/main" id="{858FFA76-4C4F-D0D6-F5F5-06D7A58D5FC3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94838" y="5928851"/>
            <a:ext cx="3097161" cy="9291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098424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5C7BD">
            <a:alpha val="3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9473C86-FD76-3F96-20CA-7F06701B8614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0358" y="1114456"/>
            <a:ext cx="11471284" cy="5743542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2E407905-E154-48EE-390B-E2AEEAF01C3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/>
          </p:nvPr>
        </p:nvSpPr>
        <p:spPr>
          <a:xfrm>
            <a:off x="4375355" y="357063"/>
            <a:ext cx="7816646" cy="606498"/>
          </a:xfrm>
          <a:solidFill>
            <a:srgbClr val="967259"/>
          </a:solidFill>
        </p:spPr>
        <p:txBody>
          <a:bodyPr>
            <a:noAutofit/>
          </a:bodyPr>
          <a:lstStyle/>
          <a:p>
            <a:pPr algn="ctr"/>
            <a:r>
              <a:rPr lang="lt-LT" sz="2800" b="1" dirty="0">
                <a:solidFill>
                  <a:schemeClr val="bg1"/>
                </a:solidFill>
                <a:latin typeface="Garamond" panose="02020404030301010803" pitchFamily="18" charset="0"/>
              </a:rPr>
              <a:t>NET SALES BY COUNTRY 2026 01-08</a:t>
            </a:r>
            <a:endParaRPr lang="en-US" sz="2800" b="1" dirty="0">
              <a:solidFill>
                <a:schemeClr val="bg1"/>
              </a:solidFill>
              <a:latin typeface="Garamond" panose="02020404030301010803" pitchFamily="18" charset="0"/>
            </a:endParaRPr>
          </a:p>
        </p:txBody>
      </p:sp>
      <p:pic>
        <p:nvPicPr>
          <p:cNvPr id="5" name="Picture 4" descr="A close up of a sign&#10;&#10;Description automatically generated">
            <a:extLst>
              <a:ext uri="{FF2B5EF4-FFF2-40B4-BE49-F238E27FC236}">
                <a16:creationId xmlns:a16="http://schemas.microsoft.com/office/drawing/2014/main" id="{858FFA76-4C4F-D0D6-F5F5-06D7A58D5FC3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94838" y="5928851"/>
            <a:ext cx="3097161" cy="9291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840786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5C7BD">
            <a:alpha val="3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2E407905-E154-48EE-390B-E2AEEAF01C3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/>
          </p:nvPr>
        </p:nvSpPr>
        <p:spPr>
          <a:xfrm>
            <a:off x="4375355" y="357063"/>
            <a:ext cx="7816646" cy="606498"/>
          </a:xfrm>
          <a:solidFill>
            <a:srgbClr val="967259"/>
          </a:solidFill>
        </p:spPr>
        <p:txBody>
          <a:bodyPr>
            <a:noAutofit/>
          </a:bodyPr>
          <a:lstStyle/>
          <a:p>
            <a:pPr algn="ctr"/>
            <a:r>
              <a:rPr lang="lt-LT" sz="2800" b="1" dirty="0">
                <a:solidFill>
                  <a:schemeClr val="bg1"/>
                </a:solidFill>
                <a:latin typeface="Garamond" panose="02020404030301010803" pitchFamily="18" charset="0"/>
              </a:rPr>
              <a:t>NET SALES BY CLIENT 2026 01-08</a:t>
            </a:r>
            <a:endParaRPr lang="en-US" sz="2800" b="1" dirty="0">
              <a:solidFill>
                <a:schemeClr val="bg1"/>
              </a:solidFill>
              <a:latin typeface="Garamond" panose="02020404030301010803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3835CB2-5DD9-51CA-3295-A7CDDE14E63C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131" y="1101213"/>
            <a:ext cx="11497737" cy="5756787"/>
          </a:xfrm>
          <a:prstGeom prst="rect">
            <a:avLst/>
          </a:prstGeom>
        </p:spPr>
      </p:pic>
      <p:pic>
        <p:nvPicPr>
          <p:cNvPr id="5" name="Picture 4" descr="A close up of a sign&#10;&#10;Description automatically generated">
            <a:extLst>
              <a:ext uri="{FF2B5EF4-FFF2-40B4-BE49-F238E27FC236}">
                <a16:creationId xmlns:a16="http://schemas.microsoft.com/office/drawing/2014/main" id="{858FFA76-4C4F-D0D6-F5F5-06D7A58D5FC3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94838" y="5928851"/>
            <a:ext cx="3097161" cy="9291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330107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5C7BD">
            <a:alpha val="3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2E407905-E154-48EE-390B-E2AEEAF01C3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/>
          </p:nvPr>
        </p:nvSpPr>
        <p:spPr>
          <a:xfrm>
            <a:off x="4375355" y="357063"/>
            <a:ext cx="7816646" cy="606498"/>
          </a:xfrm>
          <a:solidFill>
            <a:srgbClr val="967259"/>
          </a:solidFill>
        </p:spPr>
        <p:txBody>
          <a:bodyPr>
            <a:noAutofit/>
          </a:bodyPr>
          <a:lstStyle/>
          <a:p>
            <a:pPr algn="ctr"/>
            <a:r>
              <a:rPr lang="lt-LT" sz="2800" b="1" dirty="0">
                <a:solidFill>
                  <a:schemeClr val="bg1"/>
                </a:solidFill>
                <a:latin typeface="Garamond" panose="02020404030301010803" pitchFamily="18" charset="0"/>
              </a:rPr>
              <a:t>SALES OVERVIEW 2026 01-08</a:t>
            </a:r>
            <a:endParaRPr lang="en-US" sz="2800" b="1" dirty="0">
              <a:solidFill>
                <a:schemeClr val="bg1"/>
              </a:solidFill>
              <a:latin typeface="Garamond" panose="02020404030301010803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2505DB5-6130-F998-CB4B-6353D4158874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 rotWithShape="1">
          <a:blip r:embed="rId2"/>
          <a:srcRect t="12287"/>
          <a:stretch/>
        </p:blipFill>
        <p:spPr>
          <a:xfrm>
            <a:off x="417892" y="1150374"/>
            <a:ext cx="11356215" cy="5707626"/>
          </a:xfrm>
          <a:prstGeom prst="rect">
            <a:avLst/>
          </a:prstGeom>
        </p:spPr>
      </p:pic>
      <p:pic>
        <p:nvPicPr>
          <p:cNvPr id="5" name="Picture 4" descr="A close up of a sign&#10;&#10;Description automatically generated">
            <a:extLst>
              <a:ext uri="{FF2B5EF4-FFF2-40B4-BE49-F238E27FC236}">
                <a16:creationId xmlns:a16="http://schemas.microsoft.com/office/drawing/2014/main" id="{858FFA76-4C4F-D0D6-F5F5-06D7A58D5FC3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94838" y="5928851"/>
            <a:ext cx="3097161" cy="9291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35327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5C7BD">
            <a:alpha val="3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67C7851F-18E7-E18F-EC21-34FA5749BABF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3532" y="1114032"/>
            <a:ext cx="10084935" cy="5743968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2E407905-E154-48EE-390B-E2AEEAF01C3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/>
          </p:nvPr>
        </p:nvSpPr>
        <p:spPr>
          <a:xfrm>
            <a:off x="4375355" y="357063"/>
            <a:ext cx="7816646" cy="606498"/>
          </a:xfrm>
          <a:solidFill>
            <a:srgbClr val="967259"/>
          </a:solidFill>
        </p:spPr>
        <p:txBody>
          <a:bodyPr>
            <a:noAutofit/>
          </a:bodyPr>
          <a:lstStyle/>
          <a:p>
            <a:pPr algn="ctr"/>
            <a:r>
              <a:rPr lang="lt-LT" sz="2800" b="1" dirty="0">
                <a:solidFill>
                  <a:schemeClr val="bg1"/>
                </a:solidFill>
                <a:latin typeface="Garamond" panose="02020404030301010803" pitchFamily="18" charset="0"/>
              </a:rPr>
              <a:t>PREMIUM SEGMENT: GP AND COST PRICE</a:t>
            </a:r>
            <a:endParaRPr lang="en-US" sz="2800" b="1" dirty="0">
              <a:solidFill>
                <a:schemeClr val="bg1"/>
              </a:solidFill>
              <a:latin typeface="Garamond" panose="02020404030301010803" pitchFamily="18" charset="0"/>
            </a:endParaRPr>
          </a:p>
        </p:txBody>
      </p:sp>
      <p:pic>
        <p:nvPicPr>
          <p:cNvPr id="5" name="Picture 4" descr="A close up of a sign&#10;&#10;Description automatically generated">
            <a:extLst>
              <a:ext uri="{FF2B5EF4-FFF2-40B4-BE49-F238E27FC236}">
                <a16:creationId xmlns:a16="http://schemas.microsoft.com/office/drawing/2014/main" id="{858FFA76-4C4F-D0D6-F5F5-06D7A58D5FC3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94838" y="5928851"/>
            <a:ext cx="3097161" cy="9291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726674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5C7BD">
            <a:alpha val="3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6B96FDD-B6D0-083E-BFC8-5981EA081831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3364" y="1097504"/>
            <a:ext cx="10065271" cy="5760496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2E407905-E154-48EE-390B-E2AEEAF01C3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/>
          </p:nvPr>
        </p:nvSpPr>
        <p:spPr>
          <a:xfrm>
            <a:off x="3687097" y="357063"/>
            <a:ext cx="8504904" cy="606498"/>
          </a:xfrm>
          <a:solidFill>
            <a:srgbClr val="967259"/>
          </a:solidFill>
        </p:spPr>
        <p:txBody>
          <a:bodyPr>
            <a:noAutofit/>
          </a:bodyPr>
          <a:lstStyle/>
          <a:p>
            <a:pPr algn="ctr"/>
            <a:r>
              <a:rPr lang="lt-LT" sz="2800" b="1" dirty="0">
                <a:solidFill>
                  <a:schemeClr val="bg1"/>
                </a:solidFill>
                <a:latin typeface="Garamond" panose="02020404030301010803" pitchFamily="18" charset="0"/>
              </a:rPr>
              <a:t>MAINSTREAM SEGMENT: GP AND COST PRICE</a:t>
            </a:r>
            <a:endParaRPr lang="en-US" sz="2800" b="1" dirty="0">
              <a:solidFill>
                <a:schemeClr val="bg1"/>
              </a:solidFill>
              <a:latin typeface="Garamond" panose="02020404030301010803" pitchFamily="18" charset="0"/>
            </a:endParaRPr>
          </a:p>
        </p:txBody>
      </p:sp>
      <p:pic>
        <p:nvPicPr>
          <p:cNvPr id="5" name="Picture 4" descr="A close up of a sign&#10;&#10;Description automatically generated">
            <a:extLst>
              <a:ext uri="{FF2B5EF4-FFF2-40B4-BE49-F238E27FC236}">
                <a16:creationId xmlns:a16="http://schemas.microsoft.com/office/drawing/2014/main" id="{858FFA76-4C4F-D0D6-F5F5-06D7A58D5FC3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94838" y="5928851"/>
            <a:ext cx="3097161" cy="9291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938227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5C7BD">
            <a:alpha val="3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8CACFD3-CFC2-83FA-5191-3EEC8297F78C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3364" y="1097504"/>
            <a:ext cx="10065271" cy="5760496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2E407905-E154-48EE-390B-E2AEEAF01C3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/>
          </p:nvPr>
        </p:nvSpPr>
        <p:spPr>
          <a:xfrm>
            <a:off x="4375355" y="357063"/>
            <a:ext cx="7816646" cy="606498"/>
          </a:xfrm>
          <a:solidFill>
            <a:srgbClr val="967259"/>
          </a:solidFill>
        </p:spPr>
        <p:txBody>
          <a:bodyPr>
            <a:noAutofit/>
          </a:bodyPr>
          <a:lstStyle/>
          <a:p>
            <a:pPr algn="ctr"/>
            <a:r>
              <a:rPr lang="lt-LT" sz="2800" b="1" dirty="0">
                <a:solidFill>
                  <a:schemeClr val="bg1"/>
                </a:solidFill>
                <a:latin typeface="Garamond" panose="02020404030301010803" pitchFamily="18" charset="0"/>
              </a:rPr>
              <a:t>VALUE SEGMENT: GP AND COST PRICE</a:t>
            </a:r>
            <a:endParaRPr lang="en-US" sz="2800" b="1" dirty="0">
              <a:solidFill>
                <a:schemeClr val="bg1"/>
              </a:solidFill>
              <a:latin typeface="Garamond" panose="02020404030301010803" pitchFamily="18" charset="0"/>
            </a:endParaRPr>
          </a:p>
        </p:txBody>
      </p:sp>
      <p:pic>
        <p:nvPicPr>
          <p:cNvPr id="5" name="Picture 4" descr="A close up of a sign&#10;&#10;Description automatically generated">
            <a:extLst>
              <a:ext uri="{FF2B5EF4-FFF2-40B4-BE49-F238E27FC236}">
                <a16:creationId xmlns:a16="http://schemas.microsoft.com/office/drawing/2014/main" id="{858FFA76-4C4F-D0D6-F5F5-06D7A58D5FC3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94838" y="5928851"/>
            <a:ext cx="3097161" cy="9291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416109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5C7BD">
            <a:alpha val="6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close up of a cup of coffee&#10;&#10;Description automatically generated">
            <a:extLst>
              <a:ext uri="{FF2B5EF4-FFF2-40B4-BE49-F238E27FC236}">
                <a16:creationId xmlns:a16="http://schemas.microsoft.com/office/drawing/2014/main" id="{933F5531-1E45-2AF8-341F-03F7E530E93C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83" y="0"/>
            <a:ext cx="12178234" cy="6858000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53D07B77-5A30-3B55-1152-79CD78F72B73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722589" y="3429000"/>
            <a:ext cx="4702629" cy="1018913"/>
          </a:xfrm>
          <a:prstGeom prst="rect">
            <a:avLst/>
          </a:prstGeom>
          <a:solidFill>
            <a:srgbClr val="967259"/>
          </a:solidFill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lt-LT" sz="2800" b="1" dirty="0">
                <a:solidFill>
                  <a:schemeClr val="bg1"/>
                </a:solidFill>
                <a:latin typeface="Garamond" panose="02020404030301010803" pitchFamily="18" charset="0"/>
              </a:rPr>
              <a:t>Q&amp;A</a:t>
            </a:r>
          </a:p>
        </p:txBody>
      </p:sp>
    </p:spTree>
    <p:extLst>
      <p:ext uri="{BB962C8B-B14F-4D97-AF65-F5344CB8AC3E}">
        <p14:creationId xmlns:p14="http://schemas.microsoft.com/office/powerpoint/2010/main" val="41767736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410</Words>
  <Application>Microsoft Office PowerPoint</Application>
  <PresentationFormat>Widescreen</PresentationFormat>
  <Paragraphs>48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4" baseType="lpstr">
      <vt:lpstr>Arial</vt:lpstr>
      <vt:lpstr>Calibri</vt:lpstr>
      <vt:lpstr>Calibri Light</vt:lpstr>
      <vt:lpstr>Garamond</vt:lpstr>
      <vt:lpstr>Office Theme</vt:lpstr>
      <vt:lpstr>PowerPoint Presentation</vt:lpstr>
      <vt:lpstr>PowerPoint Presentation</vt:lpstr>
      <vt:lpstr>P&amp;L 2026 01-08 + 09-12 FC</vt:lpstr>
      <vt:lpstr>NET SALES 2026 01-08 + 09-12 FC</vt:lpstr>
      <vt:lpstr>GROSS PROFIT 2026 01-08 + 09-12 FC</vt:lpstr>
      <vt:lpstr>NET PROFIT 2026 01-08 + 09-12 FC</vt:lpstr>
      <vt:lpstr>EBITDA 2026 01-08 + 09-12 FC</vt:lpstr>
      <vt:lpstr>OPERATING EXPENSES 2026 01-08</vt:lpstr>
      <vt:lpstr>OTHER INCOME &amp; FINANCIAL ACTIVITIES 2026 01-08</vt:lpstr>
      <vt:lpstr>NET SALES OVERVIEW 2026 01-08</vt:lpstr>
      <vt:lpstr>NET SALES 2026 01-08</vt:lpstr>
      <vt:lpstr>NET SALES BY DATE</vt:lpstr>
      <vt:lpstr>NET SALES BY COUNTRY 2026 01-08</vt:lpstr>
      <vt:lpstr>NET SALES BY CLIENT 2026 01-08</vt:lpstr>
      <vt:lpstr>SALES OVERVIEW 2026 01-08</vt:lpstr>
      <vt:lpstr>PREMIUM SEGMENT: GP AND COST PRICE</vt:lpstr>
      <vt:lpstr>MAINSTREAM SEGMENT: GP AND COST PRICE</vt:lpstr>
      <vt:lpstr>VALUE SEGMENT: GP AND COST PRICE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Rosvaldas Šlekys</dc:creator>
  <cp:lastModifiedBy>Rosvaldas Šlekys</cp:lastModifiedBy>
  <cp:revision>47</cp:revision>
  <dcterms:created xsi:type="dcterms:W3CDTF">2026-09-01T12:40:21Z</dcterms:created>
  <dcterms:modified xsi:type="dcterms:W3CDTF">2026-09-02T11:14:32Z</dcterms:modified>
</cp:coreProperties>
</file>